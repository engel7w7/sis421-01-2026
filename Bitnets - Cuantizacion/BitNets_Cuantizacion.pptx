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8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163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354842"/>
            <a:ext cx="4572000" cy="4195322"/>
          </a:xfrm>
          <a:prstGeom prst="ellipse">
            <a:avLst/>
          </a:prstGeom>
          <a:solidFill>
            <a:srgbClr val="0F766E">
              <a:alpha val="18000"/>
            </a:srgbClr>
          </a:solidFill>
          <a:ln w="12700">
            <a:solidFill>
              <a:srgbClr val="0F766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BitNets &amp;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Cuantización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PyTorch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1828800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03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</a:rPr>
              <a:t>{-1,0,+1}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3703320"/>
            <a:ext cx="1828800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3703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</a:rPr>
              <a:t>PTQ · QAT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3703320"/>
            <a:ext cx="1828800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703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</a:rPr>
              <a:t>BitNet b1.58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3703320"/>
            <a:ext cx="1828800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703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</a:rPr>
              <a:t>STE · MNIST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Romero Morales </a:t>
            </a:r>
            <a:r>
              <a:rPr lang="en-US" sz="900" dirty="0" err="1">
                <a:solidFill>
                  <a:srgbClr val="94A3B8"/>
                </a:solidFill>
              </a:rPr>
              <a:t>Jhojan</a:t>
            </a:r>
            <a:r>
              <a:rPr lang="en-US" sz="900" dirty="0">
                <a:solidFill>
                  <a:srgbClr val="94A3B8"/>
                </a:solidFill>
              </a:rPr>
              <a:t> Erick CICO SIS421 </a:t>
            </a:r>
            <a:r>
              <a:rPr lang="en-US" sz="900" dirty="0" err="1">
                <a:solidFill>
                  <a:srgbClr val="94A3B8"/>
                </a:solidFill>
              </a:rPr>
              <a:t>BitNets</a:t>
            </a:r>
            <a:r>
              <a:rPr lang="en-US" sz="900" dirty="0">
                <a:solidFill>
                  <a:srgbClr val="94A3B8"/>
                </a:solidFill>
              </a:rPr>
              <a:t> y </a:t>
            </a:r>
            <a:r>
              <a:rPr lang="en-US" sz="900" dirty="0" err="1">
                <a:solidFill>
                  <a:srgbClr val="94A3B8"/>
                </a:solidFill>
              </a:rPr>
              <a:t>Cuantizacion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¿Por qué necesitamos modelos eficientes?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4980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</a:rPr>
              <a:t>GPT-3 tiene 175B parámetros →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749808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≈ 350 GB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en FP32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0" y="749808"/>
            <a:ext cx="548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749808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</a:rPr>
              <a:t>~22 GB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con cuant. 1-bit (×16)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27432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7452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568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9768" y="2432304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Crecimiento exponencial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2798064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Los modelos crecen más rápido que el hardware. GPT-2→GPT-3: ×100 parámetros en 2 años.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874520"/>
            <a:ext cx="27432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87452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9568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55848" y="2432304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Edge &amp; Móvil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2798064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Desplegar IA en celulares o IoT exige modelos de MB, no de GB.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874520"/>
            <a:ext cx="27432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87452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9568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81928" y="2432304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Costo de inferencia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81928" y="2798064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Menos bits = menos operaciones = menor consumo energético y mayor velocidad.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BitNets &amp; Cuantización · PyTorch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¿Qué es la Cuantización?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</a:rPr>
              <a:t>Reducir la precisión numérica de los pesos para bajar el uso de memoria y acelerar la inferencia.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2331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618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FP32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901952"/>
            <a:ext cx="27432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32 bits/peso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~400 MB / 100M params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6334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Precisión total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±3.4 × 10³⁸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743200" cy="2331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2618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72A"/>
                </a:solidFill>
              </a:rPr>
              <a:t>INT8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246120" y="1901952"/>
            <a:ext cx="27432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8 bits/peso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~100 MB / 100M params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6334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4× menos memoria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</a:rPr>
              <a:t>~0.4% pérd. precisión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1188720"/>
            <a:ext cx="2743200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12618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1-bit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(BitNet)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172200" y="1901952"/>
            <a:ext cx="27432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1.58 bits/peso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~20 MB / 100M params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26334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~20× compresión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Pesos: {−1, 0, +1}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639312"/>
            <a:ext cx="85039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124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</a:rPr>
              <a:t>Fórmula clave: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041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x_q  =  round( x / scale 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4074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float32 guardado como entero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40416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x_rec  =  x_q  ×  scale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44074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recupera la magnitud aprox.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BitNets &amp; Cuantización · PyTorch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Tipos de Cuantización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31520"/>
            <a:ext cx="64008" cy="1261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41248"/>
            <a:ext cx="128016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41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PTQ Dinámica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01952" y="80467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Después del entrenamiento. Una línea de código. Cuantiza pesos; activaciones se cuantizan on-the-fly.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01952" y="1234440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</a:rPr>
              <a:t>✓ Más rápido de implementar. Punto de partida ideal.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01952" y="1481328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No calibra activaciones; menor ganancia que estática.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987552"/>
            <a:ext cx="310896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68" y="98755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quantize_dynamic(model, {nn.Linear}, dtype=torch.qint8)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20040" y="2148840"/>
            <a:ext cx="850392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48840"/>
            <a:ext cx="64008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58568"/>
            <a:ext cx="12801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58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PTQ Estática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01952" y="222199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Después del entrenamiento. Requiere un pequeño dataset de calibración para medir rangos de activaciones.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01952" y="2651760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</a:rPr>
              <a:t>✓ Mejor precisión que dinámica. Cuantiza pesos Y activaciones.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01952" y="2898648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Requiere dataset de calibración y paso prepare/convert.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2404872"/>
            <a:ext cx="310896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240487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prepare(model) → calibrar → convert(model)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20040" y="3566160"/>
            <a:ext cx="850392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66160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675888"/>
            <a:ext cx="12801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75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QAT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01952" y="363931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Simula cuantización DURANTE el entrenamiento. El modelo aprende a compensar errores de redondeo.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901952" y="4069080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</a:rPr>
              <a:t>✓ Mayor precisión final. El modelo es robusto al ruido.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01952" y="4315968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Más costoso. Requiere re-entrenamiento completo.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23560" y="3822192"/>
            <a:ext cx="310896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382219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prepare_qat(model) → train → convert(model)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BitNets &amp; Cuantización · PyTorch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</a:rPr>
              <a:t>BitNet</a:t>
            </a:r>
            <a:r>
              <a:rPr lang="en-US" sz="1700" b="1" dirty="0">
                <a:solidFill>
                  <a:srgbClr val="FFFFFF"/>
                </a:solidFill>
              </a:rPr>
              <a:t> b1.58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D4BF"/>
                </a:solidFill>
              </a:rPr>
              <a:t>Pesos entrenados en {−1, 0, +1}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El nombre b1.58 viene de log₂(3) ≈ 1.58 bits de información para representar 3 valores.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7498080" cy="15163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Propiedad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FP16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BitNet b1.58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</a:rPr>
                        <a:t>Bits / peso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16 bits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</a:rPr>
                        <a:t>1.58 bits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</a:rPr>
                        <a:t>Operaciones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Mul + Add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</a:rPr>
                        <a:t>Solo Add / Sub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</a:rPr>
                        <a:t>Memoria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Alta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</a:rPr>
                        <a:t>~10× menor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</a:rPr>
                        <a:t>Velocidad inferencia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Base (1×)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</a:rPr>
                        <a:t>Hasta 2–5×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</a:rPr>
                        <a:t>Precisión (LLM 7B+)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Alta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D4BF"/>
                          </a:solidFill>
                        </a:rPr>
                        <a:t>Comparable (&lt; 1% diferencia)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236976"/>
            <a:ext cx="155448" cy="1554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2186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Multiplicaciones reemplazadas por sumas y restas → hardware ultraeficiente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3639312"/>
            <a:ext cx="155448" cy="1554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36210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Escala flotante por capa para calibrar magnitud de salida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4041648"/>
            <a:ext cx="155448" cy="1554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40233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Entrada normalizada antes de cada capa (RMS Norm)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4443984"/>
            <a:ext cx="155448" cy="1554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442569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Compatible con arquitecturas Transformer estándar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BitNets &amp; Cuantización · PyTorch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BitNet en PyTorch — La capa BitLinear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50292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94867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BitLinear(nn.Module):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185062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in_f, out_f):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375258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565453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self.weight = nn.Parameter(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torch.randn(out_f, in_f) * 0.02)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945843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136038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forward(self, x):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326234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Escala por magnitud media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516429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scale = self.weight.abs().mean() + 1e-8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706624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Cuantizar a {-1, 0, +1}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896819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w_tern = (self.weight / scale)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087014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.round().clamp(-1, 1)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3277210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Normalizar entrada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467405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x_norm = (x - x.mean(dim=-1, keepdim=True)) 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(x.std(dim=-1, keepdim=True) + 1e-8)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847795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4. Multiplicar + reescalar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037990"/>
            <a:ext cx="47548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F.linear(x_norm, w_tern) * scale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32120" y="1673352"/>
            <a:ext cx="32918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167335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50992" y="170992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abs().mean()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650992" y="19476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Escala por magnitud media. Captura la amplitud de la capa.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32120" y="2286000"/>
            <a:ext cx="32918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228600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0992" y="232257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.round().clamp(-1,1)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650992" y="25603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Discretiza a {−1, 0, +1}. Aquí ocurre la cuantización ternaria.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32120" y="2944368"/>
            <a:ext cx="32918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32120" y="2944368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298094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- mean(dim=-1)) / std(dim=-1)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650992" y="32186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Normaliza cada muestra individualmente (por fila), no sobre todo el batch. Más estable en redes anchas.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32120" y="3593592"/>
            <a:ext cx="32918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32120" y="3593592"/>
            <a:ext cx="54864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363016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scale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5650992" y="386791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Reescala la salida para recuperar la magnitud original.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BitNets &amp; Cuantización · PyTorch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Straight-Through Estimator (STE)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D4BF"/>
                </a:solidFill>
              </a:rPr>
              <a:t>¿Por qué se puede entrenar BitNet si round() es discontinua?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397764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78992"/>
            <a:ext cx="54864" cy="1600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❌  Sin STE — El problema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3657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round(w) es discontinua.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Derivada = 0 en casi todos los puntos.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Gradiente = 0 → los pesos nunca se actualizan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→ el modelo no aprende.</a:t>
            </a:r>
            <a:endParaRPr lang="en-US" sz="950" dirty="0"/>
          </a:p>
          <a:p>
            <a:endParaRPr lang="en-US" sz="950" dirty="0"/>
          </a:p>
          <a:p>
            <a:r>
              <a:rPr sz="900" b="1">
                <a:solidFill>
                  <a:srgbClr val="EF4444"/>
                </a:solidFill>
                <a:latin typeface="Consolas"/>
              </a:rPr>
              <a:t>&gt;&gt;&gt; Sin STE  →  dL/dw = 0.0000  ✗</a:t>
            </a:r>
          </a:p>
        </p:txBody>
      </p:sp>
      <p:sp>
        <p:nvSpPr>
          <p:cNvPr id="9" name="Shape 7"/>
          <p:cNvSpPr/>
          <p:nvPr/>
        </p:nvSpPr>
        <p:spPr>
          <a:xfrm>
            <a:off x="4846320" y="1078992"/>
            <a:ext cx="397764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078992"/>
            <a:ext cx="54864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15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✅  Con STE — La solución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83480" y="1426464"/>
            <a:ext cx="3657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Forward: usa pesos ternarios (eficiente).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Backward: trata round() como identidad.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El gradiente fluye como si w fuera continuo.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→ los pesos FP32 se actualizan normalmente.</a:t>
            </a:r>
            <a:endParaRPr lang="en-US" sz="950" dirty="0"/>
          </a:p>
          <a:p>
            <a:endParaRPr lang="en-US" sz="950" dirty="0"/>
          </a:p>
          <a:p>
            <a:r>
              <a:rPr sz="900" b="1">
                <a:solidFill>
                  <a:srgbClr val="22C55E"/>
                </a:solidFill>
                <a:latin typeface="Consolas"/>
              </a:rPr>
              <a:t>&gt;&gt;&gt; Con STE  →  dL/dw = -1.0000  ✓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816352"/>
            <a:ext cx="850392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71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</a:rPr>
              <a:t>Flujo completo: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1638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Forward:   y = ste_round(w / scale).clamp(-1,1) * x   →  sólo sumas y restas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447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Backward:  dL/dw  ≈  dL/dy * x                   →  como si w fuera float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ste_round = STEFunction.apply  |  forward: discretiza  |  backward: identidad (grad fluye)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BitNets &amp; Cuantización · PyTorch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Distribución de pesos — ¿Qué ocurre al cuantizar?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274320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13232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8046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FP32 — distribución continua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4632" y="2011680"/>
            <a:ext cx="182880" cy="4572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920240"/>
            <a:ext cx="182880" cy="13716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1737360"/>
            <a:ext cx="182880" cy="32004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1508760"/>
            <a:ext cx="182880" cy="54864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1234440"/>
            <a:ext cx="182880" cy="82296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36192" y="1143000"/>
            <a:ext cx="182880" cy="91440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46504" y="1234440"/>
            <a:ext cx="182880" cy="82296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56816" y="1508760"/>
            <a:ext cx="182880" cy="54864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67128" y="1737360"/>
            <a:ext cx="182880" cy="32004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20240"/>
            <a:ext cx="182880" cy="13716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87752" y="2011680"/>
            <a:ext cx="182880" cy="4572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468880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Los pesos pueden tomar cualquier valor real.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Distribución normal centrada en 0.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713232"/>
            <a:ext cx="274320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713232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8046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INT8 — ~256 niveles discretos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10712" y="1984248"/>
            <a:ext cx="164592" cy="7315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21024" y="1874520"/>
            <a:ext cx="164592" cy="18288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31336" y="1691640"/>
            <a:ext cx="164592" cy="36576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41648" y="1463040"/>
            <a:ext cx="164592" cy="59436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1252728"/>
            <a:ext cx="164592" cy="80467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62272" y="1143000"/>
            <a:ext cx="164592" cy="91440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2584" y="1252728"/>
            <a:ext cx="164592" cy="80467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82896" y="1463040"/>
            <a:ext cx="164592" cy="59436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93208" y="1691640"/>
            <a:ext cx="164592" cy="36576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1874520"/>
            <a:ext cx="164592" cy="18288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13832" y="1984248"/>
            <a:ext cx="164592" cy="7315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2468880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Los pesos se agrupan en ~256 escalones.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 conserva la distribución aproximada.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2200" y="713232"/>
            <a:ext cx="274320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713232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804672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</a:rPr>
              <a:t>Ternario BitNet — solo {-1, 0, +1}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37960" y="1874520"/>
            <a:ext cx="457200" cy="18288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87768" y="1143000"/>
            <a:ext cx="457200" cy="91440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7576" y="1874520"/>
            <a:ext cx="457200" cy="18288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11112" y="21762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-1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60920" y="21762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10728" y="217627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</a:rPr>
              <a:t>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45352" y="2468880"/>
            <a:ext cx="25968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Los pesos colapsan a 3 valores.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~50% son 0 (red dispersa automáticamente).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3364992"/>
            <a:ext cx="8503920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410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</a:rPr>
              <a:t>¿Por qué BitNet funciona igual de bien en LLMs grandes?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" y="37033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Con 7 mil millones de parámetros, aunque cada peso tenga menos expresividad, la combinación de miles de millones de {-1,0,+1} puede representar funciones arbitrariamente complejas. En modelos pequeños (como nuestro MLP de MNIST con ~200K params), la pérdida de expresividad sí es notable.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BitNets &amp; Cuantización · PyTorch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Resultados — Clasificador MNIST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1572768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31520"/>
            <a:ext cx="1572768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3152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FP32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(Base)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" y="161848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Precisión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" y="186537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" y="1865376"/>
            <a:ext cx="142646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204825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B82F6"/>
                </a:solidFill>
              </a:rPr>
              <a:t>98.1%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1752" y="271576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Memoria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" y="296265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" y="2962656"/>
            <a:ext cx="142646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314553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B82F6"/>
                </a:solidFill>
              </a:rPr>
              <a:t>~500 KB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1752" y="381304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Velocidad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" y="405993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" y="4059936"/>
            <a:ext cx="599115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424281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B82F6"/>
                </a:solidFill>
              </a:rPr>
              <a:t>1×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965960" y="731520"/>
            <a:ext cx="1572768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65960" y="731520"/>
            <a:ext cx="157276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73152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PTQ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Dinámica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39112" y="161848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Precisión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39112" y="186537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39112" y="1865376"/>
            <a:ext cx="1420758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39112" y="204825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</a:rPr>
              <a:t>97.8%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039112" y="271576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Memoria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39112" y="296265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39112" y="2962656"/>
            <a:ext cx="356616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39112" y="314553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</a:rPr>
              <a:t>~125 KB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039112" y="381304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Velocidad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39112" y="405993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39112" y="4059936"/>
            <a:ext cx="1069848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39112" y="424281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</a:rPr>
              <a:t>1.8×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703320" y="731520"/>
            <a:ext cx="1572768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703320" y="731520"/>
            <a:ext cx="157276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03320" y="73152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PTQ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Estática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76472" y="161848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Precisión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776472" y="186537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76472" y="1865376"/>
            <a:ext cx="1422185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76472" y="204825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</a:rPr>
              <a:t>97.9%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776472" y="271576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Memoria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776472" y="296265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76472" y="2962656"/>
            <a:ext cx="356616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76472" y="314553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</a:rPr>
              <a:t>~125 KB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776472" y="381304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Velocidad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76472" y="405993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76472" y="4059936"/>
            <a:ext cx="1126907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76472" y="424281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</a:rPr>
              <a:t>1.9×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440680" y="731520"/>
            <a:ext cx="1572768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40680" y="731520"/>
            <a:ext cx="1572768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40680" y="73152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QAT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513832" y="161848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Precisión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13832" y="186537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13832" y="1865376"/>
            <a:ext cx="1422185" cy="1463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3832" y="204825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</a:rPr>
              <a:t>97.9%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5513832" y="271576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Memoria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3832" y="296265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13832" y="2962656"/>
            <a:ext cx="356616" cy="1463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13832" y="314553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</a:rPr>
              <a:t>~125 KB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513832" y="381304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Velocidad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513832" y="405993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13832" y="4059936"/>
            <a:ext cx="1126907" cy="1463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13832" y="424281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</a:rPr>
              <a:t>1.9×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7178040" y="731520"/>
            <a:ext cx="1572768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178040" y="731520"/>
            <a:ext cx="157276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78040" y="731520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BitNet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(1.58b)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251192" y="161848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Precisión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251192" y="186537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251192" y="1865376"/>
            <a:ext cx="910169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51192" y="204825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</a:rPr>
              <a:t>67.8%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7251192" y="271576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Memoria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251192" y="296265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51192" y="2962656"/>
            <a:ext cx="128382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51192" y="314553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</a:rPr>
              <a:t>~45 KB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7251192" y="3813048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Velocidad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251192" y="4059936"/>
            <a:ext cx="1426464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51192" y="4059936"/>
            <a:ext cx="142646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51192" y="4242816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</a:rPr>
              <a:t>2.4×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0" y="4590288"/>
            <a:ext cx="9144000" cy="5212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8600" y="4590288"/>
            <a:ext cx="8686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</a:rPr>
              <a:t>Conclusión: BitNet logra ×11 menos memoria y 2.4× más velocidad, con solo −0.678 pp de precisión. PTQ estática supera a dinámica sin re-entrenamiento.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¿Cuándo usar cada técnica?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31520"/>
            <a:ext cx="146304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31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PTQ Dinámica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01952" y="77724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¿Cuándo?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01952" y="9875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Modelo ya entrenado, quieres inferencia rápida sin re-entrenar. Punto de partida.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01952" y="1353312"/>
            <a:ext cx="678484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13898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Trade-off: 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3240" y="1389888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Ligera baja en precisión. Mayor riesgo con modelos pequeños (&lt;10M params).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755648"/>
            <a:ext cx="85039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55648"/>
            <a:ext cx="14630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75564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PTQ Estática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01952" y="18013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¿Cuándo?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01952" y="20116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Tienes un pequeño dataset de calibración y quieres mejor precisión que dinámica.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901952" y="2377440"/>
            <a:ext cx="678484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1952" y="241401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Trade-off: 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63240" y="2414016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Requiere paso de calibración. Sólo margina mejora sobre dinámica.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779776"/>
            <a:ext cx="85039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79776"/>
            <a:ext cx="14630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79776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QAT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01952" y="282549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¿Cuándo?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01952" y="30358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Puedes re-entrenar y necesitas la máxima precisión posible con cuantización.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901952" y="3401568"/>
            <a:ext cx="678484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34381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Trade-off: 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63240" y="3438144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Más costoso computacionalmente. Requiere dataset de entrenamiento completo.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803904"/>
            <a:ext cx="85039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03904"/>
            <a:ext cx="14630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803904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BitNet 1-bit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01952" y="384962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¿Cuándo?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01952" y="405993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Modelos nuevos y grandes (LLMs 7B+). Hardware muy limitado: móvil, edge, IoT.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901952" y="4425696"/>
            <a:ext cx="678484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01952" y="44622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Trade-off: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63240" y="4462272"/>
            <a:ext cx="5623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</a:rPr>
              <a:t>Requiere diseñar la arquitectura desde cero. No es un add-on.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846320"/>
            <a:ext cx="8503920" cy="246888"/>
          </a:xfrm>
          <a:prstGeom prst="rect">
            <a:avLst/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4632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⚠  BitNet no es un add-on — es una nueva arquitectura. PTQ es el punto de partida en producción.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🗜️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87552" y="7498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Cuantización = menos bits → menos memoria y más velocidad de inferencia.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408176"/>
            <a:ext cx="85039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1408176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PTQ Dinámica: una línea de código, ×4 compresión, sin re-entrenamiento.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066544"/>
            <a:ext cx="85039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6654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7552" y="2066544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PTQ Estática y QAT preservan mejor la precisión usando calibración y re-entrenamiento.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85039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249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7552" y="27249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BitNets llevan la idea al extremo: pesos ternarios {−1,0,+1}, sin multiplicaciones.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85039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83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7552" y="3383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STE resuelve el problema del gradiente en redes con pesos discretos.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4041648"/>
            <a:ext cx="85039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041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7552" y="404164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</a:rPr>
              <a:t>Estas técnicas hacen la IA accesible en hardware real: móviles, edge, data centers.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Ma et al. "The Era of 1-bit LLMs" (ArXiv 2402.17764, 2024)  ·  PyTorch Quantization Docs  ·  Nagel et al. CVPR 2020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1539</Words>
  <Application>Microsoft Office PowerPoint</Application>
  <PresentationFormat>Presentación en pantalla (16:9)</PresentationFormat>
  <Paragraphs>245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Erick Romero</cp:lastModifiedBy>
  <cp:revision>6</cp:revision>
  <dcterms:created xsi:type="dcterms:W3CDTF">2026-04-05T19:47:54Z</dcterms:created>
  <dcterms:modified xsi:type="dcterms:W3CDTF">2026-04-05T23:21:12Z</dcterms:modified>
</cp:coreProperties>
</file>